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5" r:id="rId4"/>
    <p:sldId id="258" r:id="rId5"/>
    <p:sldId id="276" r:id="rId6"/>
    <p:sldId id="285" r:id="rId7"/>
    <p:sldId id="287" r:id="rId8"/>
    <p:sldId id="29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mitha V" userId="b0919c0aa31b19d9" providerId="LiveId" clId="{1FF7F8D2-8732-46CE-A3C3-FDC1DF0D2190}"/>
    <pc:docChg chg="modSld">
      <pc:chgData name="Rakshmitha V" userId="b0919c0aa31b19d9" providerId="LiveId" clId="{1FF7F8D2-8732-46CE-A3C3-FDC1DF0D2190}" dt="2026-07-19T17:44:14.093" v="5" actId="2711"/>
      <pc:docMkLst>
        <pc:docMk/>
      </pc:docMkLst>
      <pc:sldChg chg="modSp mod">
        <pc:chgData name="Rakshmitha V" userId="b0919c0aa31b19d9" providerId="LiveId" clId="{1FF7F8D2-8732-46CE-A3C3-FDC1DF0D2190}" dt="2026-07-19T17:43:43.100" v="1" actId="255"/>
        <pc:sldMkLst>
          <pc:docMk/>
          <pc:sldMk cId="0" sldId="257"/>
        </pc:sldMkLst>
        <pc:spChg chg="mod">
          <ac:chgData name="Rakshmitha V" userId="b0919c0aa31b19d9" providerId="LiveId" clId="{1FF7F8D2-8732-46CE-A3C3-FDC1DF0D2190}" dt="2026-07-19T17:43:43.100" v="1" actId="255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Rakshmitha V" userId="b0919c0aa31b19d9" providerId="LiveId" clId="{1FF7F8D2-8732-46CE-A3C3-FDC1DF0D2190}" dt="2026-07-19T17:44:06.208" v="4" actId="1036"/>
        <pc:sldMkLst>
          <pc:docMk/>
          <pc:sldMk cId="0" sldId="285"/>
        </pc:sldMkLst>
        <pc:graphicFrameChg chg="modGraphic">
          <ac:chgData name="Rakshmitha V" userId="b0919c0aa31b19d9" providerId="LiveId" clId="{1FF7F8D2-8732-46CE-A3C3-FDC1DF0D2190}" dt="2026-07-19T17:43:59.463" v="2" actId="14100"/>
          <ac:graphicFrameMkLst>
            <pc:docMk/>
            <pc:sldMk cId="0" sldId="285"/>
            <ac:graphicFrameMk id="3" creationId="{4A230A67-D70E-12F5-E0BA-6A8E58265F2E}"/>
          </ac:graphicFrameMkLst>
        </pc:graphicFrameChg>
        <pc:graphicFrameChg chg="mod modGraphic">
          <ac:chgData name="Rakshmitha V" userId="b0919c0aa31b19d9" providerId="LiveId" clId="{1FF7F8D2-8732-46CE-A3C3-FDC1DF0D2190}" dt="2026-07-19T17:44:06.208" v="4" actId="1036"/>
          <ac:graphicFrameMkLst>
            <pc:docMk/>
            <pc:sldMk cId="0" sldId="285"/>
            <ac:graphicFrameMk id="6" creationId="{8073D365-DBDB-4E5C-02EC-7728E96E3608}"/>
          </ac:graphicFrameMkLst>
        </pc:graphicFrameChg>
      </pc:sldChg>
      <pc:sldChg chg="modSp mod">
        <pc:chgData name="Rakshmitha V" userId="b0919c0aa31b19d9" providerId="LiveId" clId="{1FF7F8D2-8732-46CE-A3C3-FDC1DF0D2190}" dt="2026-07-19T17:44:14.093" v="5" actId="2711"/>
        <pc:sldMkLst>
          <pc:docMk/>
          <pc:sldMk cId="0" sldId="287"/>
        </pc:sldMkLst>
        <pc:spChg chg="mod">
          <ac:chgData name="Rakshmitha V" userId="b0919c0aa31b19d9" providerId="LiveId" clId="{1FF7F8D2-8732-46CE-A3C3-FDC1DF0D2190}" dt="2026-07-19T17:44:14.093" v="5" actId="2711"/>
          <ac:spMkLst>
            <pc:docMk/>
            <pc:sldMk cId="0" sldId="287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0DCF8-FC94-4270-B69D-B8FED625C3D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40DD4-4954-4011-B22B-3B4033FBDD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270" y="1560365"/>
            <a:ext cx="10363200" cy="1470025"/>
          </a:xfrm>
        </p:spPr>
        <p:txBody>
          <a:bodyPr>
            <a:normAutofit/>
          </a:bodyPr>
          <a:lstStyle/>
          <a:p>
            <a:r>
              <a:rPr lang="en-IN" b="1" dirty="0"/>
              <a:t>Substitution vs Transposition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7665" y="4886325"/>
            <a:ext cx="3696335" cy="146939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Presented by</a:t>
            </a:r>
          </a:p>
          <a:p>
            <a:pPr algn="l">
              <a:buFont typeface="Arial" panose="020B0604020202020204" pitchFamily="34" charset="0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V.Rakshmitha-192465052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5775" y="3302000"/>
            <a:ext cx="1043622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</a:t>
            </a:r>
            <a:r>
              <a:rPr lang="en-US" alt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5116-</a:t>
            </a:r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5159" y="250960"/>
            <a:ext cx="10342304" cy="1037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1795" y="4889500"/>
            <a:ext cx="29006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Guided by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DR.E.Anbalagan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08908" y="1819001"/>
            <a:ext cx="11285787" cy="461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and transposition are two fundamental techniques used in classical cryptography to protect information.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substitution cipher encrypts data by replacing each character with another, while a transposition cipher encrypts data by changing the order of characters without altering them.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methods aim to ensure confidentiality, but they differ in their approach and level of security.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740690"/>
            <a:ext cx="109728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en-IN" b="1" dirty="0"/>
              <a:t>Substitution Cipher</a:t>
            </a:r>
            <a:br>
              <a:rPr lang="en-IN" b="1" dirty="0"/>
            </a:b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55366" y="2078042"/>
            <a:ext cx="10542095" cy="5122545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each letter or symbol with another letter, number, or symbol.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the characters remains unchanged.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Caesar Cipher, Monoalphabetic Cipher, Vigenère Cipher.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changing the identity of the characters</a:t>
            </a: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Transposition Cipher</a:t>
            </a:r>
            <a:br>
              <a:rPr lang="en-IN" b="1" dirty="0"/>
            </a:b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25140"/>
            <a:ext cx="10972800" cy="3646270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Rearranges the positions of characters without changing the characters themselves.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letters are preserved but appear in a different order.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Rail Fence Cipher, Columnar Transposition Cipher.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changing the position of characters.</a:t>
            </a:r>
          </a:p>
          <a:p>
            <a:pPr marL="0" indent="269875" algn="just">
              <a:lnSpc>
                <a:spcPct val="120000"/>
              </a:lnSpc>
              <a:spcBef>
                <a:spcPts val="600"/>
              </a:spcBef>
              <a:buNone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631624"/>
            <a:ext cx="11188065" cy="1261110"/>
          </a:xfrm>
        </p:spPr>
        <p:txBody>
          <a:bodyPr>
            <a:normAutofit fontScale="90000"/>
          </a:bodyPr>
          <a:lstStyle/>
          <a:p>
            <a:pPr indent="269875">
              <a:lnSpc>
                <a:spcPct val="120000"/>
              </a:lnSpc>
              <a:spcBef>
                <a:spcPts val="600"/>
              </a:spcBef>
            </a:pPr>
            <a:r>
              <a:rPr lang="en-IN" b="1" dirty="0"/>
              <a:t>Comparison Between Substitution and Transposition</a:t>
            </a:r>
            <a:br>
              <a:rPr lang="en-IN" b="1" dirty="0"/>
            </a:b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8" y="2232740"/>
            <a:ext cx="12034344" cy="4525709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05805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0580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49960" y="1884045"/>
            <a:ext cx="10086975" cy="415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E75928-A103-6C8C-D86F-F3A4B6465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41168"/>
              </p:ext>
            </p:extLst>
          </p:nvPr>
        </p:nvGraphicFramePr>
        <p:xfrm>
          <a:off x="870444" y="1884045"/>
          <a:ext cx="10246006" cy="4762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4137">
                  <a:extLst>
                    <a:ext uri="{9D8B030D-6E8A-4147-A177-3AD203B41FA5}">
                      <a16:colId xmlns:a16="http://schemas.microsoft.com/office/drawing/2014/main" val="390785673"/>
                    </a:ext>
                  </a:extLst>
                </a:gridCol>
                <a:gridCol w="3404137">
                  <a:extLst>
                    <a:ext uri="{9D8B030D-6E8A-4147-A177-3AD203B41FA5}">
                      <a16:colId xmlns:a16="http://schemas.microsoft.com/office/drawing/2014/main" val="3106731704"/>
                    </a:ext>
                  </a:extLst>
                </a:gridCol>
                <a:gridCol w="3437732">
                  <a:extLst>
                    <a:ext uri="{9D8B030D-6E8A-4147-A177-3AD203B41FA5}">
                      <a16:colId xmlns:a16="http://schemas.microsoft.com/office/drawing/2014/main" val="1633224188"/>
                    </a:ext>
                  </a:extLst>
                </a:gridCol>
              </a:tblGrid>
              <a:tr h="793832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Feature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Substitution Cipher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Transposition Cipher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5306745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Replaces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Rearranges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105528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Letter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Changes character identities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Preserves original letter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29360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Readability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Completely different letters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Same letters in different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40927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Caesar, Vigenère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Rail Fence, Columnar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392788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Complexity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Easy to implement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Requires rearrangement rules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3024364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dirty="0"/>
              <a:t>Advantages and Disadvantages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A230A67-D70E-12F5-E0BA-6A8E58265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577571"/>
              </p:ext>
            </p:extLst>
          </p:nvPr>
        </p:nvGraphicFramePr>
        <p:xfrm>
          <a:off x="609600" y="1600199"/>
          <a:ext cx="486696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6968">
                  <a:extLst>
                    <a:ext uri="{9D8B030D-6E8A-4147-A177-3AD203B41FA5}">
                      <a16:colId xmlns:a16="http://schemas.microsoft.com/office/drawing/2014/main" val="2554372124"/>
                    </a:ext>
                  </a:extLst>
                </a:gridCol>
              </a:tblGrid>
              <a:tr h="61361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Substitution Cipher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16727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73D365-DBDB-4E5C-02EC-7728E96E3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115139"/>
              </p:ext>
            </p:extLst>
          </p:nvPr>
        </p:nvGraphicFramePr>
        <p:xfrm>
          <a:off x="609600" y="2528218"/>
          <a:ext cx="4866968" cy="3473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3484">
                  <a:extLst>
                    <a:ext uri="{9D8B030D-6E8A-4147-A177-3AD203B41FA5}">
                      <a16:colId xmlns:a16="http://schemas.microsoft.com/office/drawing/2014/main" val="2839661738"/>
                    </a:ext>
                  </a:extLst>
                </a:gridCol>
                <a:gridCol w="2433484">
                  <a:extLst>
                    <a:ext uri="{9D8B030D-6E8A-4147-A177-3AD203B41FA5}">
                      <a16:colId xmlns:a16="http://schemas.microsoft.com/office/drawing/2014/main" val="3968473310"/>
                    </a:ext>
                  </a:extLst>
                </a:gridCol>
              </a:tblGrid>
              <a:tr h="821285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226044"/>
                  </a:ext>
                </a:extLst>
              </a:tr>
              <a:tr h="835951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Easy to understand and implement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Vulnerable to frequency analysis.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331166"/>
                  </a:ext>
                </a:extLst>
              </a:tr>
              <a:tr h="158830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Polyalphabetic substitution (e.g., Vigenère) is stronger than simple substitution.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Monoalphabetic ciphers are easily broken.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662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562318-00EB-9B83-0BEA-B426C1C42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922542"/>
              </p:ext>
            </p:extLst>
          </p:nvPr>
        </p:nvGraphicFramePr>
        <p:xfrm>
          <a:off x="6096000" y="1666718"/>
          <a:ext cx="531528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5285">
                  <a:extLst>
                    <a:ext uri="{9D8B030D-6E8A-4147-A177-3AD203B41FA5}">
                      <a16:colId xmlns:a16="http://schemas.microsoft.com/office/drawing/2014/main" val="385240412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Transposition Cipher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6089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BE316E2-5315-639D-5850-BD8055E67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43627"/>
              </p:ext>
            </p:extLst>
          </p:nvPr>
        </p:nvGraphicFramePr>
        <p:xfrm>
          <a:off x="6095999" y="2518386"/>
          <a:ext cx="5315286" cy="3352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643">
                  <a:extLst>
                    <a:ext uri="{9D8B030D-6E8A-4147-A177-3AD203B41FA5}">
                      <a16:colId xmlns:a16="http://schemas.microsoft.com/office/drawing/2014/main" val="4149113126"/>
                    </a:ext>
                  </a:extLst>
                </a:gridCol>
                <a:gridCol w="2657643">
                  <a:extLst>
                    <a:ext uri="{9D8B030D-6E8A-4147-A177-3AD203B41FA5}">
                      <a16:colId xmlns:a16="http://schemas.microsoft.com/office/drawing/2014/main" val="1812809076"/>
                    </a:ext>
                  </a:extLst>
                </a:gridCol>
              </a:tblGrid>
              <a:tr h="1081847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140240"/>
                  </a:ext>
                </a:extLst>
              </a:tr>
              <a:tr h="1081847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Maintains letter frequencies while scrambling positions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broken using pattern analysis and brute force.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83078"/>
                  </a:ext>
                </a:extLst>
              </a:tr>
              <a:tr h="1081847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 difficult to detect the original message structure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secure when used alone.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1826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37151" y="1874593"/>
            <a:ext cx="11132398" cy="5122545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ciphers replace characters, while transposition ciphers rearrange them.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technique has strengths and weaknesses.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Individually, both are vulnerable to cryptanalysis.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combination of substitution and transposition offers much stronger protection.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encryption algorithms use multiple rounds of substitution and transposition to provide high security</a:t>
            </a: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795"/>
            <a:ext cx="10972800" cy="183642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352</Words>
  <Application>Microsoft Office PowerPoint</Application>
  <PresentationFormat>Widescreen</PresentationFormat>
  <Paragraphs>63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-apple-system-body</vt:lpstr>
      <vt:lpstr>Aptos</vt:lpstr>
      <vt:lpstr>Arial</vt:lpstr>
      <vt:lpstr>Calibri</vt:lpstr>
      <vt:lpstr>Times New Roman</vt:lpstr>
      <vt:lpstr>Wingdings</vt:lpstr>
      <vt:lpstr>Office Theme</vt:lpstr>
      <vt:lpstr>Substitution vs Transposition</vt:lpstr>
      <vt:lpstr>Introduction</vt:lpstr>
      <vt:lpstr>Substitution Cipher </vt:lpstr>
      <vt:lpstr>Transposition Cipher </vt:lpstr>
      <vt:lpstr>Comparison Between Substitution and Transposition </vt:lpstr>
      <vt:lpstr>Advantages and Disadvantages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Rakshmitha V</cp:lastModifiedBy>
  <cp:revision>39</cp:revision>
  <dcterms:created xsi:type="dcterms:W3CDTF">2013-01-27T09:14:00Z</dcterms:created>
  <dcterms:modified xsi:type="dcterms:W3CDTF">2026-07-19T17:44:19Z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CD8A4E64211E42AD8525B66C7F7CFA89_13</vt:lpwstr>
  </property>
</Properties>
</file>